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0b9fa9c18f4bc8" /><Relationship Type="http://schemas.openxmlformats.org/officeDocument/2006/relationships/extended-properties" Target="/docProps/app.xml" Id="R823fd0e94ee34395" /><Relationship Type="http://schemas.openxmlformats.org/officeDocument/2006/relationships/officeDocument" Target="/ppt/presentation.xml" Id="Rf5e375babb2746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f546efc4ba440d"/>
  </p:sldMasterIdLst>
  <p:notesMasterIdLst>
    <p:notesMasterId xmlns:r="http://schemas.openxmlformats.org/officeDocument/2006/relationships" r:id="Re614b25ad6054e4f"/>
  </p:notesMasterIdLst>
  <p:sldIdLst>
    <p:sldId xmlns:r="http://schemas.openxmlformats.org/officeDocument/2006/relationships" id="256" r:id="R9ecf040bdf704708"/>
    <p:sldId xmlns:r="http://schemas.openxmlformats.org/officeDocument/2006/relationships" id="257" r:id="R676a781759954060"/>
    <p:sldId xmlns:r="http://schemas.openxmlformats.org/officeDocument/2006/relationships" id="258" r:id="Rcc81ffbb033f4cfc"/>
    <p:sldId xmlns:r="http://schemas.openxmlformats.org/officeDocument/2006/relationships" id="259" r:id="Re944fcbe1351454c"/>
    <p:sldId xmlns:r="http://schemas.openxmlformats.org/officeDocument/2006/relationships" id="260" r:id="R7339b625215a46a5"/>
    <p:sldId xmlns:r="http://schemas.openxmlformats.org/officeDocument/2006/relationships" id="261" r:id="Rd2baffdce5ca4c9f"/>
    <p:sldId xmlns:r="http://schemas.openxmlformats.org/officeDocument/2006/relationships" id="262" r:id="R2f83437a8a734960"/>
    <p:sldId xmlns:r="http://schemas.openxmlformats.org/officeDocument/2006/relationships" id="263" r:id="R174fd3873d6749d7"/>
    <p:sldId xmlns:r="http://schemas.openxmlformats.org/officeDocument/2006/relationships" id="264" r:id="R143ca0f47e834fba"/>
    <p:sldId xmlns:r="http://schemas.openxmlformats.org/officeDocument/2006/relationships" id="265" r:id="R125ed86712fe4023"/>
    <p:sldId xmlns:r="http://schemas.openxmlformats.org/officeDocument/2006/relationships" id="266" r:id="Rdd0d52e6fc274a23"/>
    <p:sldId xmlns:r="http://schemas.openxmlformats.org/officeDocument/2006/relationships" id="267" r:id="R7ca0043640964a6f"/>
    <p:sldId xmlns:r="http://schemas.openxmlformats.org/officeDocument/2006/relationships" id="268" r:id="Re80aec320ae14634"/>
    <p:sldId xmlns:r="http://schemas.openxmlformats.org/officeDocument/2006/relationships" id="269" r:id="Rd7cbc859df3649a1"/>
    <p:sldId xmlns:r="http://schemas.openxmlformats.org/officeDocument/2006/relationships" id="270" r:id="Re75c0918b1d14e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22a0cb56ca4592" /><Relationship Type="http://schemas.openxmlformats.org/officeDocument/2006/relationships/slideMaster" Target="/ppt/slideMasters/slideMaster1.xml" Id="Rb5f546efc4ba440d" /><Relationship Type="http://schemas.openxmlformats.org/officeDocument/2006/relationships/notesMaster" Target="/ppt/notesMasters/notesMaster1.xml" Id="Re614b25ad6054e4f" /><Relationship Type="http://schemas.openxmlformats.org/officeDocument/2006/relationships/presProps" Target="/ppt/presProps.xml" Id="R7712875e702d4407" /><Relationship Type="http://schemas.openxmlformats.org/officeDocument/2006/relationships/tableStyles" Target="/ppt/tableStyles.xml" Id="Rf4ea0d41c6754ee9" /><Relationship Type="http://schemas.openxmlformats.org/officeDocument/2006/relationships/slide" Target="/ppt/slides/slide1.xml" Id="R9ecf040bdf704708" /><Relationship Type="http://schemas.openxmlformats.org/officeDocument/2006/relationships/slide" Target="/ppt/slides/slide2.xml" Id="R676a781759954060" /><Relationship Type="http://schemas.openxmlformats.org/officeDocument/2006/relationships/slide" Target="/ppt/slides/slide3.xml" Id="Rcc81ffbb033f4cfc" /><Relationship Type="http://schemas.openxmlformats.org/officeDocument/2006/relationships/slide" Target="/ppt/slides/slide4.xml" Id="Re944fcbe1351454c" /><Relationship Type="http://schemas.openxmlformats.org/officeDocument/2006/relationships/slide" Target="/ppt/slides/slide5.xml" Id="R7339b625215a46a5" /><Relationship Type="http://schemas.openxmlformats.org/officeDocument/2006/relationships/slide" Target="/ppt/slides/slide6.xml" Id="Rd2baffdce5ca4c9f" /><Relationship Type="http://schemas.openxmlformats.org/officeDocument/2006/relationships/slide" Target="/ppt/slides/slide7.xml" Id="R2f83437a8a734960" /><Relationship Type="http://schemas.openxmlformats.org/officeDocument/2006/relationships/slide" Target="/ppt/slides/slide8.xml" Id="R174fd3873d6749d7" /><Relationship Type="http://schemas.openxmlformats.org/officeDocument/2006/relationships/slide" Target="/ppt/slides/slide9.xml" Id="R143ca0f47e834fba" /><Relationship Type="http://schemas.openxmlformats.org/officeDocument/2006/relationships/slide" Target="/ppt/slides/slide10.xml" Id="R125ed86712fe4023" /><Relationship Type="http://schemas.openxmlformats.org/officeDocument/2006/relationships/slide" Target="/ppt/slides/slide11.xml" Id="Rdd0d52e6fc274a23" /><Relationship Type="http://schemas.openxmlformats.org/officeDocument/2006/relationships/slide" Target="/ppt/slides/slide12.xml" Id="R7ca0043640964a6f" /><Relationship Type="http://schemas.openxmlformats.org/officeDocument/2006/relationships/slide" Target="/ppt/slides/slide13.xml" Id="Re80aec320ae14634" /><Relationship Type="http://schemas.openxmlformats.org/officeDocument/2006/relationships/slide" Target="/ppt/slides/slide14.xml" Id="Rd7cbc859df3649a1" /><Relationship Type="http://schemas.openxmlformats.org/officeDocument/2006/relationships/slide" Target="/ppt/slides/slide15.xml" Id="Re75c0918b1d14e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9d7155318d4e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68fb3e07584edf" /><Relationship Type="http://schemas.openxmlformats.org/officeDocument/2006/relationships/notesMaster" Target="/ppt/notesMasters/notesMaster1.xml" Id="R17b636a641cc4d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90e9d700104f78" /><Relationship Type="http://schemas.openxmlformats.org/officeDocument/2006/relationships/notesMaster" Target="/ppt/notesMasters/notesMaster1.xml" Id="Re822595f4fad4c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d22e9e3dbf48bb" /><Relationship Type="http://schemas.openxmlformats.org/officeDocument/2006/relationships/notesMaster" Target="/ppt/notesMasters/notesMaster1.xml" Id="R2e7d655fab7b4d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f44ea0a9f84ab1" /><Relationship Type="http://schemas.openxmlformats.org/officeDocument/2006/relationships/notesMaster" Target="/ppt/notesMasters/notesMaster1.xml" Id="R1b3081a17d194c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44ea12e0064ee0" /><Relationship Type="http://schemas.openxmlformats.org/officeDocument/2006/relationships/notesMaster" Target="/ppt/notesMasters/notesMaster1.xml" Id="R4a6a43ef62da4f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ab4ed7a24d4795" /><Relationship Type="http://schemas.openxmlformats.org/officeDocument/2006/relationships/notesMaster" Target="/ppt/notesMasters/notesMaster1.xml" Id="R0e5ece57f9c242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b604183ab94e6f" /><Relationship Type="http://schemas.openxmlformats.org/officeDocument/2006/relationships/notesMaster" Target="/ppt/notesMasters/notesMaster1.xml" Id="Rd58dec55f9304d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5ece4683d5493a" /><Relationship Type="http://schemas.openxmlformats.org/officeDocument/2006/relationships/notesMaster" Target="/ppt/notesMasters/notesMaster1.xml" Id="R31244925f4e64b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0c5261c7ff4ac9" /><Relationship Type="http://schemas.openxmlformats.org/officeDocument/2006/relationships/notesMaster" Target="/ppt/notesMasters/notesMaster1.xml" Id="R9550138d5d2c49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59621a66724edf" /><Relationship Type="http://schemas.openxmlformats.org/officeDocument/2006/relationships/notesMaster" Target="/ppt/notesMasters/notesMaster1.xml" Id="R56680e7807d742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88257536c644db" /><Relationship Type="http://schemas.openxmlformats.org/officeDocument/2006/relationships/notesMaster" Target="/ppt/notesMasters/notesMaster1.xml" Id="R92c5c1e7f25242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df3e0afe1c4b9b" /><Relationship Type="http://schemas.openxmlformats.org/officeDocument/2006/relationships/notesMaster" Target="/ppt/notesMasters/notesMaster1.xml" Id="Rac1cc93a05cc42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1c69b423734d41" /><Relationship Type="http://schemas.openxmlformats.org/officeDocument/2006/relationships/notesMaster" Target="/ppt/notesMasters/notesMaster1.xml" Id="R285d24d864c94f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8dd45295494ab9" /><Relationship Type="http://schemas.openxmlformats.org/officeDocument/2006/relationships/notesMaster" Target="/ppt/notesMasters/notesMaster1.xml" Id="R065f9c8485f84e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07725038944cae" /><Relationship Type="http://schemas.openxmlformats.org/officeDocument/2006/relationships/notesMaster" Target="/ppt/notesMasters/notesMaster1.xml" Id="Re8b2909cccbf4e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prepared 2 October 2026. Period: 1–31 August versus 1–30 September 2026, Asia/Kolkata. Website: live production database via tools/db.mjs; succeeded payment requests, excluding known synthetic sessions; grouped by checkout creation date. Gross booked sales, not refund-adjusted bank receipts. No customer-identifying data used. SQL and aggregate results retained with report source.</a:t>
            </a:r>
          </a:p>
          <a:p xmlns:a="http://schemas.openxmlformats.org/drawingml/2006/main">
            <a:r>
              <a:t>Scope includes overall sales, funnel, attribution, creative strategy and a proposed recovery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prepared 2 October 2026. Period: 1–31 August versus 1–30 September 2026, Asia/Kolkata. Website: live production database via tools/db.mjs; succeeded payment requests, excluding known synthetic sessions; grouped by checkout creation date. Gross booked sales, not refund-adjusted bank receipts. No customer-identifying data used. SQL and aggregate results retained with report source.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prepared 2 October 2026. Period: 1–31 August versus 1–30 September 2026, Asia/Kolkata. Website: live production database via tools/db.mjs; succeeded payment requests, excluding known synthetic sessions; grouped by checkout creation date. Gross booked sales, not refund-adjusted bank receipts. No customer-identifying data used. SQL and aggregate results retained with report source.</a:t>
            </a:r>
          </a:p>
          <a:p xmlns:a="http://schemas.openxmlformats.org/drawingml/2006/main">
            <a:r>
              <a:t>Monthly SQL: monthly.sql. Revenue per day accounts for 31 versus 30 days. Checkout success is succeeded rows divided by all checkout attempts, not unique people.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prepared 2 October 2026. Period: 1–31 August versus 1–30 September 2026, Asia/Kolkata. Website: live production database via tools/db.mjs; succeeded payment requests, excluding known synthetic sessions; grouped by checkout creation date. Gross booked sales, not refund-adjusted bank receipts. No customer-identifying data used. SQL and aggregate results retained with report source.</a:t>
            </a:r>
          </a:p>
          <a:p xmlns:a="http://schemas.openxmlformats.org/drawingml/2006/main">
            <a:r>
              <a:t>Bot analytics source: tools/bot.mjs summary, generatedAt 2026-10-01T18:47:55.929Z. September daily trend sum: 47 paid, INR 16,270. Rolling last30d revenue 20,365 less October 1 revenue 1,599 and October 2 revenue 0 gives 18,766. Difference INR 2,496; do not add both. Bot launch September 17 is from context/README.md snapshot September 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prepared 2 October 2026. Period: 1–31 August versus 1–30 September 2026, Asia/Kolkata. Website: live production database via tools/db.mjs; succeeded payment requests, excluding known synthetic sessions; grouped by checkout creation date. Gross booked sales, not refund-adjusted bank receipts. No customer-identifying data used. SQL and aggregate results retained with report source.</a:t>
            </a:r>
          </a:p>
          <a:p xmlns:a="http://schemas.openxmlformats.org/drawingml/2006/main">
            <a:r>
              <a:t>Source: daily.sql. Revenue is rupees divided by 100,000. Aug 21–31 has 11 days versus Sep 21–30 with 10. First ten-day drop INR 234,970; subsequent periods offset INR 114,409.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prepared 2 October 2026. Period: 1–31 August versus 1–30 September 2026, Asia/Kolkata. Website: live production database via tools/db.mjs; succeeded payment requests, excluding known synthetic sessions; grouped by checkout creation date. Gross booked sales, not refund-adjusted bank receipts. No customer-identifying data used. SQL and aggregate results retained with report source.</a:t>
            </a:r>
          </a:p>
          <a:p xmlns:a="http://schemas.openxmlformats.org/drawingml/2006/main">
            <a:r>
              <a:t>Sources: cohort.sql and monthly.sql. Starts are distinct flow IDs with their first create_started event in month. Draft reached before Oct 1; known synthetic sessions excluded where linkable. Paid flow rate 2213/123970 vs 1940/100342; not the same as monthly paid order counts. Cohort maturity differs and flows are not unique people.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prepared 2 October 2026. Period: 1–31 August versus 1–30 September 2026, Asia/Kolkata. Website: live production database via tools/db.mjs; succeeded payment requests, excluding known synthetic sessions; grouped by checkout creation date. Gross booked sales, not refund-adjusted bank receipts. No customer-identifying data used. SQL and aggregate results retained with report source.</a:t>
            </a:r>
          </a:p>
          <a:p xmlns:a="http://schemas.openxmlformats.org/drawingml/2006/main">
            <a:r>
              <a:t>Source: channel_cohort.sql. Campaign-tagged starts 48,333 to 72,340; draft counts 14,108 to 16,545. Internal starts 48,652 to 17,767; drafts 34,328 to 10,862. Event channel taxonomy is not independently validated. Context/current-plan.md: registration planned to move after payment; live release date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prepared 2 October 2026. Period: 1–31 August versus 1–30 September 2026, Asia/Kolkata. Website: live production database via tools/db.mjs; succeeded payment requests, excluding known synthetic sessions; grouped by checkout creation date. Gross booked sales, not refund-adjusted bank receipts. No customer-identifying data used. SQL and aggregate results retained with report source.</a:t>
            </a:r>
          </a:p>
          <a:p xmlns:a="http://schemas.openxmlformats.org/drawingml/2006/main">
            <a:r>
              <a:t>Source: attribution.sql. Attribution joins payment_requests.flow_id to funnel_flows.flow_id and attribution_id. Campaign sum includes non-paid tags such as site and trustpilot; not equivalent to Meta-paid or incremental revenue. Internal means internal attribution, not organic.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prepared 2 October 2026. Period: 1–31 August versus 1–30 September 2026, Asia/Kolkata. Website: live production database via tools/db.mjs; succeeded payment requests, excluding known synthetic sessions; grouped by checkout creation date. Gross booked sales, not refund-adjusted bank receipts. No customer-identifying data used. SQL and aggregate results retained with report source.</a:t>
            </a:r>
          </a:p>
          <a:p xmlns:a="http://schemas.openxmlformats.org/drawingml/2006/main">
            <a:r>
              <a:t>Source: mix.sql. All succeeded website payment requests by amount, including topups. INR 499 counts 1654 to 1476; INR 799 counts 209 to 345; INR 1499 counts 28 to 45; INR 699 counts 241 to zero. Amount bands are not equivalent product packs across changing pricing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prepared 2 October 2026. Period: 1–31 August versus 1–30 September 2026, Asia/Kolkata. Website: live production database via tools/db.mjs; succeeded payment requests, excluding known synthetic sessions; grouped by checkout creation date. Gross booked sales, not refund-adjusted bank receipts. No customer-identifying data used. SQL and aggregate results retained with report source.</a:t>
            </a:r>
          </a:p>
          <a:p xmlns:a="http://schemas.openxmlformats.org/drawingml/2006/main">
            <a:r>
              <a:t>Recommendations are SingDia-specific hypotheses, not measured comparative performance. Meta sources: https://www.facebook.com/business/ads/facebook-instagram-reels-ads and https://about.fb.com/news/2025/04/partnering-with-indias-agency-ecosystem-to-build-agencies-of-the-future/ (accessed 2 Oct 2026). Meta supports creator partnerships and AI creative tools; neither proves a SingDia sales uplift.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prepared 2 October 2026. Period: 1–31 August versus 1–30 September 2026, Asia/Kolkata. Website: live production database via tools/db.mjs; succeeded payment requests, excluding known synthetic sessions; grouped by checkout creation date. Gross booked sales, not refund-adjusted bank receipts. No customer-identifying data used. SQL and aggregate results retained with report source.</a:t>
            </a:r>
          </a:p>
          <a:p xmlns:a="http://schemas.openxmlformats.org/drawingml/2006/main">
            <a:r>
              <a:t>Creative concepts proposed for testing, not published content or observed customer reactions. Use only approved sample songs and consented footage; no private customer stories in AI tools. Akil checks any Hindi line before use. Meta Reels guidance supports vertical Reels-native creative; source in slide 10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prepared 2 October 2026. Period: 1–31 August versus 1–30 September 2026, Asia/Kolkata. Website: live production database via tools/db.mjs; succeeded payment requests, excluding known synthetic sessions; grouped by checkout creation date. Gross booked sales, not refund-adjusted bank receipts. No customer-identifying data used. SQL and aggregate results retained with report source.</a:t>
            </a:r>
          </a:p>
          <a:p xmlns:a="http://schemas.openxmlformats.org/drawingml/2006/main">
            <a:r>
              <a:t>Proposed design; no ads launched and no spend approved. Primary decision metric: contribution after ad and production cost per equal test budget. Additional diagnostics: outbound CTR, landing reach, start-to-lyrics, purchase conversion, paid CPA, refund rate. Same attribution window and tracking IDs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prepared 2 October 2026. Period: 1–31 August versus 1–30 September 2026, Asia/Kolkata. Website: live production database via tools/db.mjs; succeeded payment requests, excluding known synthetic sessions; grouped by checkout creation date. Gross booked sales, not refund-adjusted bank receipts. No customer-identifying data used. SQL and aggregate results retained with report source.</a:t>
            </a:r>
          </a:p>
          <a:p xmlns:a="http://schemas.openxmlformats.org/drawingml/2006/main">
            <a:r>
              <a:t>Proposed cadence, not a claim about existing assets or guaranteed performance. Organic posting and paid testing have different objectives. Paid amplification requires Akil approval; no outreach or publishing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prepared 2 October 2026. Period: 1–31 August versus 1–30 September 2026, Asia/Kolkata. Website: live production database via tools/db.mjs; succeeded payment requests, excluding known synthetic sessions; grouped by checkout creation date. Gross booked sales, not refund-adjusted bank receipts. No customer-identifying data used. SQL and aggregate results retained with report source.</a:t>
            </a:r>
          </a:p>
          <a:p xmlns:a="http://schemas.openxmlformats.org/drawingml/2006/main">
            <a:r>
              <a:t>Proposed owners based on context/current-plan.md and context/README.md: Mikhail website, Anton bot/dashboard, Akil marketing decisions. Actions are tasks for owners, not changes made to the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prepared 2 October 2026. Period: 1–31 August versus 1–30 September 2026, Asia/Kolkata. Website: live production database via tools/db.mjs; succeeded payment requests, excluding known synthetic sessions; grouped by checkout creation date. Gross booked sales, not refund-adjusted bank receipts. No customer-identifying data used. SQL and aggregate results retained with report source.</a:t>
            </a:r>
          </a:p>
          <a:p xmlns:a="http://schemas.openxmlformats.org/drawingml/2006/main">
            <a:r>
              <a:t>Data request prepared for Akil to share; no messages sent. Dashboard returned HTTP 401 and browser lacked authenticated session. Bot discrepancy source generatedAt 2026-10-01T18:47:55.929Z. August snapshot in context/economics.md says INR 12.3 lakh and 2232 sales; live same-basis query gives INR 1275888 and 2313. Different scope or stale snapshot must be reconciled.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cdf3c6a1e48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b69c7f61bf4b4b" /><Relationship Type="http://schemas.openxmlformats.org/officeDocument/2006/relationships/slideLayout" Target="/ppt/slideLayouts/slideLayout1.xml" Id="R27c31b6118524c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c31b6118524c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4e1dd2f63498a" /><Relationship Type="http://schemas.openxmlformats.org/officeDocument/2006/relationships/notesSlide" Target="/ppt/notesSlides/notesSlide1.xml" Id="R0dfef1f3a40246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bbf5d94cc4c39" /><Relationship Type="http://schemas.openxmlformats.org/officeDocument/2006/relationships/notesSlide" Target="/ppt/notesSlides/notesSlide2.xml" Id="R9e16600fec984f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d95803b3e422e" /><Relationship Type="http://schemas.openxmlformats.org/officeDocument/2006/relationships/notesSlide" Target="/ppt/notesSlides/notesSlide3.xml" Id="R0d266aa2a65e49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0bdd731cb44fc" /><Relationship Type="http://schemas.openxmlformats.org/officeDocument/2006/relationships/notesSlide" Target="/ppt/notesSlides/notesSlide4.xml" Id="R3b8b0ce28bae41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1b47c891e41d8" /><Relationship Type="http://schemas.openxmlformats.org/officeDocument/2006/relationships/chart" Target="/ppt/slides/charts/chart1.xml" Id="R190a11ce183e42a8" /><Relationship Type="http://schemas.openxmlformats.org/officeDocument/2006/relationships/notesSlide" Target="/ppt/notesSlides/notesSlide5.xml" Id="R5dedd9a1a21348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8463f07554793" /><Relationship Type="http://schemas.openxmlformats.org/officeDocument/2006/relationships/notesSlide" Target="/ppt/notesSlides/notesSlide6.xml" Id="R94455d4a83784a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462c6543c4f8b" /><Relationship Type="http://schemas.openxmlformats.org/officeDocument/2006/relationships/notesSlide" Target="/ppt/notesSlides/notesSlide7.xml" Id="R32c0cab75e884e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127e061fa4917" /><Relationship Type="http://schemas.openxmlformats.org/officeDocument/2006/relationships/notesSlide" Target="/ppt/notesSlides/notesSlide8.xml" Id="R2068e2ef5abe44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70f554a0e46c3" /><Relationship Type="http://schemas.openxmlformats.org/officeDocument/2006/relationships/notesSlide" Target="/ppt/notesSlides/notesSlide9.xml" Id="Ra9194b8a49a84e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3384ac8474fde" /><Relationship Type="http://schemas.openxmlformats.org/officeDocument/2006/relationships/notesSlide" Target="/ppt/notesSlides/notesSlide10.xml" Id="R6a1899d0ba1444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4dc74f4a043b9" /><Relationship Type="http://schemas.openxmlformats.org/officeDocument/2006/relationships/notesSlide" Target="/ppt/notesSlides/notesSlide11.xml" Id="Rb2606e36ec714b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917ad3bb24747" /><Relationship Type="http://schemas.openxmlformats.org/officeDocument/2006/relationships/notesSlide" Target="/ppt/notesSlides/notesSlide12.xml" Id="Rdf5593007b9047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b65d43bf64251" /><Relationship Type="http://schemas.openxmlformats.org/officeDocument/2006/relationships/notesSlide" Target="/ppt/notesSlides/notesSlide13.xml" Id="R161bb01e7a2343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02ce1ca224526" /><Relationship Type="http://schemas.openxmlformats.org/officeDocument/2006/relationships/notesSlide" Target="/ppt/notesSlides/notesSlide14.xml" Id="R0550bd34f16740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293cc9b3b432a" /><Relationship Type="http://schemas.openxmlformats.org/officeDocument/2006/relationships/notesSlide" Target="/ppt/notesSlides/notesSlide15.xml" Id="R051c6f9b544648c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August • ₹ lakh</c:v>
          </c:tx>
          <c:spPr>
            <a:solidFill xmlns:a="http://schemas.openxmlformats.org/drawingml/2006/main">
              <a:srgbClr val="117C79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latin typeface="Arial"/>
                        <a:ea typeface="Arial"/>
                        <a:cs typeface="Arial"/>
                      </a:rPr>
                      <a:t>5.15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latin typeface="Arial"/>
                        <a:ea typeface="Arial"/>
                        <a:cs typeface="Arial"/>
                      </a:rPr>
                      <a:t>4.41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latin typeface="Arial"/>
                        <a:ea typeface="Arial"/>
                        <a:cs typeface="Arial"/>
                      </a:rPr>
                      <a:t>3.20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Data'!$A$2:$A$4</c:f>
              <c:strCache>
                <c:ptCount val="3"/>
                <c:pt idx="0">
                  <c:v>Days 1–10</c:v>
                </c:pt>
                <c:pt idx="1">
                  <c:v>Days 11–20</c:v>
                </c:pt>
                <c:pt idx="2">
                  <c:v>Days 21–month end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5.14881</c:v>
                </c:pt>
                <c:pt idx="1">
                  <c:v>4.40529</c:v>
                </c:pt>
                <c:pt idx="2">
                  <c:v>3.20478</c:v>
                </c:pt>
              </c:numCache>
            </c:numRef>
          </c:val>
        </c:ser>
        <c:ser>
          <c:idx val="1"/>
          <c:order val="1"/>
          <c:tx>
            <c:v>September • ₹ lakh</c:v>
          </c:tx>
          <c:spPr>
            <a:solidFill xmlns:a="http://schemas.openxmlformats.org/drawingml/2006/main">
              <a:srgbClr val="CA603E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latin typeface="Arial"/>
                        <a:ea typeface="Arial"/>
                        <a:cs typeface="Arial"/>
                      </a:rPr>
                      <a:t>2.80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latin typeface="Arial"/>
                        <a:ea typeface="Arial"/>
                        <a:cs typeface="Arial"/>
                      </a:rPr>
                      <a:t>4.91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latin typeface="Arial"/>
                        <a:ea typeface="Arial"/>
                        <a:cs typeface="Arial"/>
                      </a:rPr>
                      <a:t>3.84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latin typeface="Arial"/>
                      <a:ea typeface="Arial"/>
                      <a:cs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Data'!$C$2:$C$4</c:f>
              <c:strCache>
                <c:ptCount val="3"/>
                <c:pt idx="0">
                  <c:v>Days 1–10</c:v>
                </c:pt>
                <c:pt idx="1">
                  <c:v>Days 11–20</c:v>
                </c:pt>
                <c:pt idx="2">
                  <c:v>Days 21–month end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2.79911</c:v>
                </c:pt>
                <c:pt idx="1">
                  <c:v>4.91432</c:v>
                </c:pt>
                <c:pt idx="2">
                  <c:v>3.83984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E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3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38435-597C-4BCF-A0C8-589F7313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SingDia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August &amp; September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3DAC5-E0B1-4082-B3D7-C2B81A4F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D6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D6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82B32-9A2E-4B29-8D3E-485D408C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B9D6D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B9D6D4"/>
                </a:solidFill>
                <a:latin typeface="Arial"/>
                <a:ea typeface="Arial"/>
                <a:cs typeface="Arial"/>
              </a:rPr>
              <a:t>Sales diagnosis &amp; growth plan • 15-slide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0E001-5140-420F-BB16-CC60D69B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Prepared for Akil • 2 October 2026</a:t>
            </a:r>
          </a:p>
        </p:txBody>
      </p:sp>
    </p:spTree>
    <p:extLst>
      <p:ext uri="{BB962C8B-B14F-4D97-AF65-F5344CB8AC3E}">
        <p14:creationId xmlns:p14="http://schemas.microsoft.com/office/powerpoint/2010/main" val="3110676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CFEE1-47B3-4B7D-9491-7E2E3AB5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36"/>
                </a:solidFill>
                <a:latin typeface="Arial"/>
                <a:ea typeface="Arial"/>
                <a:cs typeface="Arial"/>
              </a:rPr>
              <a:t>Fewer orders drove the revenue decline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623DE-5701-4D31-B458-08752A2E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5CFB9-8F5F-4AD6-B9D8-0786AA10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7C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79"/>
                </a:solidFill>
                <a:latin typeface="Arial"/>
                <a:ea typeface="Arial"/>
                <a:cs typeface="Arial"/>
              </a:rPr>
              <a:t>−9.45% website revenue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AADEF-19F4-434E-BC21-5A01B668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776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336"/>
                </a:solidFill>
                <a:latin typeface="Arial"/>
                <a:ea typeface="Arial"/>
                <a:cs typeface="Arial"/>
              </a:rPr>
              <a:t>₹12.76 lakh → ₹11.55 lakh. Orders fell 10.38%; average order value rose 1.03%.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E6C56-2A63-4113-A2A6-BB385B56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7C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79"/>
                </a:solidFill>
                <a:latin typeface="Arial"/>
                <a:ea typeface="Arial"/>
                <a:cs typeface="Arial"/>
              </a:rPr>
              <a:t>Fewer song starts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1710C-A3C0-4B41-8FE1-037C2B31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776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336"/>
                </a:solidFill>
                <a:latin typeface="Arial"/>
                <a:ea typeface="Arial"/>
                <a:cs typeface="Arial"/>
              </a:rPr>
              <a:t>Starts fell 19.1%; paid flows per start improved from 1.79% to 1.93%. The lyrics-stage drop needs diagnosis.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5B15D-8997-4532-90B0-B6A660E1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7C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79"/>
                </a:solidFill>
                <a:latin typeface="Arial"/>
                <a:ea typeface="Arial"/>
                <a:cs typeface="Arial"/>
              </a:rPr>
              <a:t>Recover qualified volume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70927-0723-4F5A-80EF-FA4DC3E4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776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336"/>
                </a:solidFill>
                <a:latin typeface="Arial"/>
                <a:ea typeface="Arial"/>
                <a:cs typeface="Arial"/>
              </a:rPr>
              <a:t>Reconcile sources and test the early flow. Compare real, AI and hybrid video on paid purchase economics.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493F4-936D-4C99-BB3D-A31DDBC4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Website comparison verified. Overall revenue and ad profitability remain provisional pending reconciliation.</a:t>
            </a:r>
          </a:p>
        </p:txBody>
      </p:sp>
    </p:spTree>
    <p:extLst>
      <p:ext uri="{BB962C8B-B14F-4D97-AF65-F5344CB8AC3E}">
        <p14:creationId xmlns:p14="http://schemas.microsoft.com/office/powerpoint/2010/main" val="1456178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AAE10-412D-4DE3-9883-3D51AC1C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36"/>
                </a:solidFill>
                <a:latin typeface="Arial"/>
                <a:ea typeface="Arial"/>
                <a:cs typeface="Arial"/>
              </a:rPr>
              <a:t>August–September sales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953DB-B8BE-481E-9AA6-7E441125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428875"/>
                <a:gridCol w="2571750"/>
                <a:gridCol w="2447925"/>
              </a:tblGrid>
              <a:tr h="5796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Website metric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August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September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Change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</a:tr>
              <a:tr h="5796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Revenue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₹12,75,888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₹11,55,327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−9.45%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6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Paid orders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2,313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2,073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−10.38%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5796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Average order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₹551.62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₹557.32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+1.03%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6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Revenue / day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₹41,158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₹38,511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−6.43%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5796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Checkout attempts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5,528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4,272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−22.72%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6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Checkout success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41.84%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48.53%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+6.68 pp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49DD5-AD55-4D8B-B9EE-7ED1AF5D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Source: live website database, extracted 2 Oct. Gross succeeded payments by checkout date; refunds unavailable.</a:t>
            </a:r>
          </a:p>
        </p:txBody>
      </p:sp>
    </p:spTree>
    <p:extLst>
      <p:ext uri="{BB962C8B-B14F-4D97-AF65-F5344CB8AC3E}">
        <p14:creationId xmlns:p14="http://schemas.microsoft.com/office/powerpoint/2010/main" val="16855765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BECA5-59D0-4C01-8182-E3CB7233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36"/>
                </a:solidFill>
                <a:latin typeface="Arial"/>
                <a:ea typeface="Arial"/>
                <a:cs typeface="Arial"/>
              </a:rPr>
              <a:t>WhatsApp partly offsets the website loss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E7944-9A1E-471D-ABFB-1CCC2A98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57800"/>
                <a:gridCol w="2857500"/>
                <a:gridCol w="28575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Gross revenue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August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September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Website — verified basis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₹12,75,888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₹11,55,327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WhatsApp — daily series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Not launched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₹16,270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Combined — provisional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₹12,75,888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₹11,71,597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Combined change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−8.17%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2B41F-DC42-443B-A9B7-59FB3E43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A60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A603E"/>
                </a:solidFill>
                <a:latin typeface="Arial"/>
                <a:ea typeface="Arial"/>
                <a:cs typeface="Arial"/>
              </a:rPr>
              <a:t>Unreconciled difference: ₹2,496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DD9E5-081F-45B4-9D60-FD64D7D8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Rolling bot summary implies ₹18,766 for September; that would mean ₹11,74,093 combined (−7.98%). Anton to reconcile.</a:t>
            </a:r>
          </a:p>
        </p:txBody>
      </p:sp>
    </p:spTree>
    <p:extLst>
      <p:ext uri="{BB962C8B-B14F-4D97-AF65-F5344CB8AC3E}">
        <p14:creationId xmlns:p14="http://schemas.microsoft.com/office/powerpoint/2010/main" val="20708189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B5C6E-C41F-42D4-8362-C3810EE5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36"/>
                </a:solidFill>
                <a:latin typeface="Arial"/>
                <a:ea typeface="Arial"/>
                <a:cs typeface="Arial"/>
              </a:rPr>
              <a:t>The shortfall came early in September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4DDDA-4402-44FA-B39C-5F941246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0a11ce183e42a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C0D6F-05E1-4181-B1F3-62E08C87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Sep 1–10: −45.6%. Sep 11–20: +11.6%. Sep 21–30 exceeded Aug 21–31 despite one fewer day.</a:t>
            </a:r>
          </a:p>
        </p:txBody>
      </p:sp>
    </p:spTree>
    <p:extLst>
      <p:ext uri="{BB962C8B-B14F-4D97-AF65-F5344CB8AC3E}">
        <p14:creationId xmlns:p14="http://schemas.microsoft.com/office/powerpoint/2010/main" val="2161853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A4215-8218-4A2C-857E-C87F523A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36"/>
                </a:solidFill>
                <a:latin typeface="Arial"/>
                <a:ea typeface="Arial"/>
                <a:cs typeface="Arial"/>
              </a:rPr>
              <a:t>The largest funnel gap is before lyrics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8FEDE-F292-4745-A13E-47475BB3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2628900"/>
                <a:gridCol w="26289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Funnel measure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August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September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Song-start flows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1,23,970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1,00,342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Those reaching lyrics by 30 Sep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62,038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31,365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Start → lyrics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50.04%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31.26%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Start → paid flow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1.79%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1.93%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Checkout attempts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5,528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4,272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Checkout attempt → paid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41.84%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48.53%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F232E-8D4C-4CD0-8B18-9BA87AA6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Purchase conversion per start improved. Fewer starts drove fewer paid flows; the lyrics drop alone does not prove lost sales.</a:t>
            </a:r>
          </a:p>
        </p:txBody>
      </p:sp>
    </p:spTree>
    <p:extLst>
      <p:ext uri="{BB962C8B-B14F-4D97-AF65-F5344CB8AC3E}">
        <p14:creationId xmlns:p14="http://schemas.microsoft.com/office/powerpoint/2010/main" val="15816581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27012-5BC2-4A0F-B8B8-2CFC82D4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36"/>
                </a:solidFill>
                <a:latin typeface="Arial"/>
                <a:ea typeface="Arial"/>
                <a:cs typeface="Arial"/>
              </a:rPr>
              <a:t>Traffic mix and flow friction both need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97A21-E3C1-47DD-A33C-6FCA3A80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95597-BECB-47FF-9989-295E8974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7C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79"/>
                </a:solidFill>
                <a:latin typeface="Arial"/>
                <a:ea typeface="Arial"/>
                <a:cs typeface="Arial"/>
              </a:rPr>
              <a:t>A different traffic mix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B3DA7-E011-4E8D-9C10-C5A1B203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776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336"/>
                </a:solidFill>
                <a:latin typeface="Arial"/>
                <a:ea typeface="Arial"/>
                <a:cs typeface="Arial"/>
              </a:rPr>
              <a:t>Campaign-tagged starts rose 49.7%, while internal starts fell 63.5%. Overall conversion can change with the mix.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4AF4D-CB7A-4506-A3CA-1803B944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7C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79"/>
                </a:solidFill>
                <a:latin typeface="Arial"/>
                <a:ea typeface="Arial"/>
                <a:cs typeface="Arial"/>
              </a:rPr>
              <a:t>A weaker campaign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27F49-A8FE-435C-BFEF-05B6D6CA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776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336"/>
                </a:solidFill>
                <a:latin typeface="Arial"/>
                <a:ea typeface="Arial"/>
                <a:cs typeface="Arial"/>
              </a:rPr>
              <a:t>Campaign start → lyrics fell from 29.2% to 22.9%. Compare the same sources, devices and product version.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C0538-B1E0-458A-8A67-BCD16D8F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7C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79"/>
                </a:solidFill>
                <a:latin typeface="Arial"/>
                <a:ea typeface="Arial"/>
                <a:cs typeface="Arial"/>
              </a:rPr>
              <a:t>Registration is a 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8F66D-D74C-4432-A909-DAA7876C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776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336"/>
                </a:solidFill>
                <a:latin typeface="Arial"/>
                <a:ea typeface="Arial"/>
                <a:cs typeface="Arial"/>
              </a:rPr>
              <a:t>Earlier notes flag registration before lyrics. Confirm the release timeline and run a controlled flow test.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964FA-6D9F-4780-9488-953AD706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Do not attribute all of the 18.8-point overall drop to registration; traffic quality and measurement may contribute.</a:t>
            </a:r>
          </a:p>
        </p:txBody>
      </p:sp>
    </p:spTree>
    <p:extLst>
      <p:ext uri="{BB962C8B-B14F-4D97-AF65-F5344CB8AC3E}">
        <p14:creationId xmlns:p14="http://schemas.microsoft.com/office/powerpoint/2010/main" val="14995840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F323E-CD2B-43BD-93F1-795357CA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36"/>
                </a:solidFill>
                <a:latin typeface="Arial"/>
                <a:ea typeface="Arial"/>
                <a:cs typeface="Arial"/>
              </a:rPr>
              <a:t>Changed source labels cloud the ad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CCECE-C07E-4FE5-8467-8E6447A0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57800"/>
                <a:gridCol w="2857500"/>
                <a:gridCol w="2857500"/>
              </a:tblGrid>
              <a:tr h="587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Recorded source group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August revenue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September revenue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</a:tr>
              <a:tr h="587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All campaign-tagged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₹8,24,585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₹8,82,329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Internal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₹2,80,214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₹1,14,917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587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Organic search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₹51,309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₹32,102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Organic social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₹10,830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₹2,996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587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Direct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₹40,080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₹56,205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8B07F-EA64-4E1F-913B-AE579122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Selected groups only. Tags shifted from “ig/fb” to “paid/paida/paidb”. Reconcile campaign IDs before judging Meta or creators.</a:t>
            </a:r>
          </a:p>
        </p:txBody>
      </p:sp>
    </p:spTree>
    <p:extLst>
      <p:ext uri="{BB962C8B-B14F-4D97-AF65-F5344CB8AC3E}">
        <p14:creationId xmlns:p14="http://schemas.microsoft.com/office/powerpoint/2010/main" val="8460276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241E9-BBA8-4FA9-9767-B6878016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36"/>
                </a:solidFill>
                <a:latin typeface="Arial"/>
                <a:ea typeface="Arial"/>
                <a:cs typeface="Arial"/>
              </a:rPr>
              <a:t>Premium order values held 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C2BE0-CFE2-45B8-B8A8-FA28FA86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57800"/>
                <a:gridCol w="2857500"/>
                <a:gridCol w="28575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Paid amount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August orders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September orders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₹499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1,654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1,476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₹799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209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345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₹1,499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₹699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241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E7661-1F1B-41F3-A584-E7CAF7AD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7C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7C79"/>
                </a:solidFill>
                <a:latin typeface="Arial"/>
                <a:ea typeface="Arial"/>
                <a:cs typeface="Arial"/>
              </a:rPr>
              <a:t>Keep an entry offer and a clear premium option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D0BA3-6055-4A89-9F7D-D82DFB13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Price tests changed the offer mix. These counts do not prove customers upgraded from one specific pack to another.</a:t>
            </a:r>
          </a:p>
        </p:txBody>
      </p:sp>
    </p:spTree>
    <p:extLst>
      <p:ext uri="{BB962C8B-B14F-4D97-AF65-F5344CB8AC3E}">
        <p14:creationId xmlns:p14="http://schemas.microsoft.com/office/powerpoint/2010/main" val="4672895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22696-36D6-408E-B3E8-79713B79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36"/>
                </a:solidFill>
                <a:latin typeface="Arial"/>
                <a:ea typeface="Arial"/>
                <a:cs typeface="Arial"/>
              </a:rPr>
              <a:t>Real creator video vs AI video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3AA77-74B8-4C4C-9BD1-692A8073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191000"/>
                <a:gridCol w="4067175"/>
              </a:tblGrid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Format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Potential benefit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Cost or risk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Real creator / customer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Believable reaction; product proof; creator audience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Coordination, revisions and usage rights; higher production effort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AI-generated video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Fast concept variations; flexible scenes and languages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Artificial reactions may weaken trust; retries and factual errors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Hybrid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Real song/demo and person; AI assists edits and variants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Needs careful review to preserve truthful product proof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689FB-DB71-4685-A1DC-965036AA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Recommendation: real product proof as the foundation, AI as production support. Validate with paid purchase results.</a:t>
            </a:r>
          </a:p>
        </p:txBody>
      </p:sp>
    </p:spTree>
    <p:extLst>
      <p:ext uri="{BB962C8B-B14F-4D97-AF65-F5344CB8AC3E}">
        <p14:creationId xmlns:p14="http://schemas.microsoft.com/office/powerpoint/2010/main" val="12628348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8EFBA-61A6-4932-B272-D37D7D69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36"/>
                </a:solidFill>
                <a:latin typeface="Arial"/>
                <a:ea typeface="Arial"/>
                <a:cs typeface="Arial"/>
              </a:rPr>
              <a:t>Make the song’s personal detail the hook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6002D-562F-471D-A17D-EF4E1E5E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5DDAA-CCC6-49D4-A544-6CB2F493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7C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79"/>
                </a:solidFill>
                <a:latin typeface="Arial"/>
                <a:ea typeface="Arial"/>
                <a:cs typeface="Arial"/>
              </a:rPr>
              <a:t>Real reaction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5D617-2A56-4EA4-95DE-2E42FA9C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776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336"/>
                </a:solidFill>
                <a:latin typeface="Arial"/>
                <a:ea typeface="Arial"/>
                <a:cs typeface="Arial"/>
              </a:rPr>
              <a:t>20–30 sec: open with an actual reaction, play the line with a personal detail, then show how the gift was made.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EC473-ADC0-4CA1-BB23-3112B15A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7C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79"/>
                </a:solidFill>
                <a:latin typeface="Arial"/>
                <a:ea typeface="Arial"/>
                <a:cs typeface="Arial"/>
              </a:rPr>
              <a:t>Creator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F661A-F081-4973-B67C-14D17427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776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336"/>
                </a:solidFill>
                <a:latin typeface="Arial"/>
                <a:ea typeface="Arial"/>
                <a:cs typeface="Arial"/>
              </a:rPr>
              <a:t>20–30 sec: show the real brief → lyrics → song journey. Address pronunciation, price and what the buyer receives.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972ED-3C35-4A4A-9D43-9C738CB7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7C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79"/>
                </a:solidFill>
                <a:latin typeface="Arial"/>
                <a:ea typeface="Arial"/>
                <a:cs typeface="Arial"/>
              </a:rPr>
              <a:t>AI / hybrid 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01FF7-29CF-436C-849A-A99CF884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776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336"/>
                </a:solidFill>
                <a:latin typeface="Arial"/>
                <a:ea typeface="Arial"/>
                <a:cs typeface="Arial"/>
              </a:rPr>
              <a:t>15–25 sec: use a clearly fictional occasion scene around a real approved sample. Do not present it as a customer testimonial.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3D44A-1374-4DB3-B14A-DAAF17D0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Prioritise spouse/anniversary concepts; treat regional-language creative as a controlled test, based on the Sep 5 strategy snapshot.</a:t>
            </a:r>
          </a:p>
        </p:txBody>
      </p:sp>
    </p:spTree>
    <p:extLst>
      <p:ext uri="{BB962C8B-B14F-4D97-AF65-F5344CB8AC3E}">
        <p14:creationId xmlns:p14="http://schemas.microsoft.com/office/powerpoint/2010/main" val="11111992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74081-D3D7-4784-B819-9C0A6B6E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36"/>
                </a:solidFill>
                <a:latin typeface="Arial"/>
                <a:ea typeface="Arial"/>
                <a:cs typeface="Arial"/>
              </a:rPr>
              <a:t>A fair creative test isolates the video format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2BA7A-4956-47D1-9C4D-64459E36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29050"/>
                <a:gridCol w="3238500"/>
                <a:gridCol w="39052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Keep the same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Vary deliberately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Judge on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Occasion, offer and price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Real creator video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Paid CPA and contribution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Audience and destination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AI video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Paid CPA and contribution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Dates, placements, attribution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Hybrid video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Paid CPA and contribution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3BCA8-FB17-465E-A9A9-93476F2A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7C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7C79"/>
                </a:solidFill>
                <a:latin typeface="Arial"/>
                <a:ea typeface="Arial"/>
                <a:cs typeface="Arial"/>
              </a:rPr>
              <a:t>Use controlled A/B allocation and a pre-agreed spend cap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2FB56-6EDD-49B7-8638-DC1FAEE8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Start with one matched concept across three formats. Set sample/power from baseline; an early few purchases are only directional.</a:t>
            </a:r>
          </a:p>
        </p:txBody>
      </p:sp>
    </p:spTree>
    <p:extLst>
      <p:ext uri="{BB962C8B-B14F-4D97-AF65-F5344CB8AC3E}">
        <p14:creationId xmlns:p14="http://schemas.microsoft.com/office/powerpoint/2010/main" val="11240462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E3860-B95E-49BA-83D4-34DCFA28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36"/>
                </a:solidFill>
                <a:latin typeface="Arial"/>
                <a:ea typeface="Arial"/>
                <a:cs typeface="Arial"/>
              </a:rPr>
              <a:t>A repeatable weekly content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6F7B3-4687-4221-9860-4E0EB474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8BBEA-5548-49E5-8BB5-FBC63D05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7C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79"/>
                </a:solidFill>
                <a:latin typeface="Arial"/>
                <a:ea typeface="Arial"/>
                <a:cs typeface="Arial"/>
              </a:rPr>
              <a:t>Produce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58558-14BD-42E4-BE0E-05916504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776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336"/>
                </a:solidFill>
                <a:latin typeface="Arial"/>
                <a:ea typeface="Arial"/>
                <a:cs typeface="Arial"/>
              </a:rPr>
              <a:t>Capture a truthful demo, a creator explanation and a consented reaction. Make different hooks from the same session.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6A29D-9EC5-4C97-8597-00738A91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7C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79"/>
                </a:solidFill>
                <a:latin typeface="Arial"/>
                <a:ea typeface="Arial"/>
                <a:cs typeface="Arial"/>
              </a:rPr>
              <a:t>Publish and learn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7930A-5B05-447A-9A58-C37DBC75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776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336"/>
                </a:solidFill>
                <a:latin typeface="Arial"/>
                <a:ea typeface="Arial"/>
                <a:cs typeface="Arial"/>
              </a:rPr>
              <a:t>Post three distinct concepts weekly. Track saves, shares, qualified visits and purchases with consistent links.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77B56-6FBE-4623-9EF0-56C5313D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7C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79"/>
                </a:solidFill>
                <a:latin typeface="Arial"/>
                <a:ea typeface="Arial"/>
                <a:cs typeface="Arial"/>
              </a:rPr>
              <a:t>Promote selectively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71B9A-2835-4301-A050-37BADCA1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776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336"/>
                </a:solidFill>
                <a:latin typeface="Arial"/>
                <a:ea typeface="Arial"/>
                <a:cs typeface="Arial"/>
              </a:rPr>
              <a:t>Take promising concepts into a purchase test. Organic views alone do not establish that an ad will be profitable.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E160F-B33B-48D5-A3CF-405EC364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AI can assist hooks, captions, editing and fictional scenes. Include failed generations and editing time in cost per usable asset.</a:t>
            </a:r>
          </a:p>
        </p:txBody>
      </p:sp>
    </p:spTree>
    <p:extLst>
      <p:ext uri="{BB962C8B-B14F-4D97-AF65-F5344CB8AC3E}">
        <p14:creationId xmlns:p14="http://schemas.microsoft.com/office/powerpoint/2010/main" val="16939022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349DB-FCA8-4781-8136-6C5BBF3E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36"/>
                </a:solidFill>
                <a:latin typeface="Arial"/>
                <a:ea typeface="Arial"/>
                <a:cs typeface="Arial"/>
              </a:rPr>
              <a:t>A 30-day recovery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AF7BE-DA29-4E21-9C78-9F1236A6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524500"/>
                <a:gridCol w="36385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Window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 / success measure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Days 1–3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Reconcile revenue, UTMs and spend; confirm flow release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Anton + Mikhail: one agreed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Days 4–10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Test early flow friction at stable budget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Mikhail: revenue per start + draft rate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Days 11–20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Run real / AI / hybrid purchase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Akil: contribution after production cost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Days 21–30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Expand proven concepts; add a shareable gift test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Akil + owners: profitable purchases and referrals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F848E-48B6-474F-9047-634B5A3B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Change one major variable at a time. Akil approves any production fee, generation credits or advertising spend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18621221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92303-454F-4D50-8048-F2CF7521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36"/>
                </a:solidFill>
                <a:latin typeface="Arial"/>
                <a:ea typeface="Arial"/>
                <a:cs typeface="Arial"/>
              </a:rPr>
              <a:t>The missing data needed for the final profit 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17942-07E6-4668-8945-E926549A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00625"/>
                <a:gridCol w="4143375"/>
                <a:gridCol w="1828800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Needed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18333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Meta daily spend + campaign/ad IDs + creative format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Separate lower spend, higher CPA and creative fatigue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Akil / ads 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Profit export + refunds + capture dates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Close net revenue and comparable profit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Anton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Bot daily vs rolling revenue reconciliation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Resolve ₹2,496 September difference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Anton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Release history + stable UTM mapping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Test the flow hypothesis and channel decline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336"/>
                          </a:solidFill>
                          <a:latin typeface="Arial"/>
                          <a:ea typeface="Arial"/>
                          <a:cs typeface="Arial"/>
                        </a:rPr>
                        <a:t>Mikhail + Anton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BC6AC-1647-4460-B640-3004192E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5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68"/>
                </a:solidFill>
                <a:latin typeface="Arial"/>
                <a:ea typeface="Arial"/>
                <a:cs typeface="Arial"/>
              </a:rPr>
              <a:t>Until these arrive: website decline is verified on the stated basis; combined sales are provisional; ad-format causality is unproven.</a:t>
            </a:r>
          </a:p>
        </p:txBody>
      </p:sp>
    </p:spTree>
    <p:extLst>
      <p:ext uri="{BB962C8B-B14F-4D97-AF65-F5344CB8AC3E}">
        <p14:creationId xmlns:p14="http://schemas.microsoft.com/office/powerpoint/2010/main" val="517339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2026-10-01T21:01:53.0240000Z</dcterms:created>
  <dcterms:modified xsi:type="dcterms:W3CDTF">2026-10-01T21:01:53.0240000Z</dcterms:modified>
</coreProperties>
</file>